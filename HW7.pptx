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1" r:id="rId3"/>
    <p:sldId id="259" r:id="rId4"/>
    <p:sldId id="263" r:id="rId5"/>
    <p:sldId id="265" r:id="rId6"/>
    <p:sldId id="264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 snapToObjects="1">
      <p:cViewPr varScale="1">
        <p:scale>
          <a:sx n="115" d="100"/>
          <a:sy n="115" d="100"/>
        </p:scale>
        <p:origin x="37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70888" y="1295401"/>
            <a:ext cx="8650224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3895" y="1524000"/>
            <a:ext cx="8664211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895" y="3299013"/>
            <a:ext cx="8664212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4718" y="3352802"/>
            <a:ext cx="11222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718" y="4771030"/>
            <a:ext cx="11222567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494640" y="363538"/>
            <a:ext cx="1120272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7" y="2403145"/>
            <a:ext cx="10742084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7" y="3736006"/>
            <a:ext cx="10742084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7" y="107576"/>
            <a:ext cx="10723035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2367" y="1600201"/>
            <a:ext cx="512064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4761" y="1600201"/>
            <a:ext cx="512064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365" y="107576"/>
            <a:ext cx="10723035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5" y="1453225"/>
            <a:ext cx="512064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365" y="2347416"/>
            <a:ext cx="512064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4760" y="1453225"/>
            <a:ext cx="512064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4760" y="2347416"/>
            <a:ext cx="512064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99" y="611872"/>
            <a:ext cx="512064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765" y="368300"/>
            <a:ext cx="512064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199" y="1787856"/>
            <a:ext cx="512064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98" y="611872"/>
            <a:ext cx="5439393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1198" y="1787856"/>
            <a:ext cx="5439393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6787489" y="359393"/>
            <a:ext cx="48768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6389" y="368301"/>
            <a:ext cx="2032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2365" y="368301"/>
            <a:ext cx="8919635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2367" y="107576"/>
            <a:ext cx="10723035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2367" y="1600201"/>
            <a:ext cx="10723035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06447" y="627566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7F71C68-24F9-644F-9F76-1704DFEA77F1}" type="datetimeFigureOut">
              <a:rPr lang="en-US" smtClean="0"/>
              <a:t>2/15/26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611" y="6275669"/>
            <a:ext cx="6454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0541" y="6275669"/>
            <a:ext cx="132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62D5DE6C-9094-3746-927F-A8CB01A0DA0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nlp.stanford.edu/projects/glov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507.1810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istilbert/distilroberta-bas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 #7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7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67" y="1444532"/>
            <a:ext cx="8362298" cy="4343400"/>
          </a:xfrm>
        </p:spPr>
        <p:txBody>
          <a:bodyPr/>
          <a:lstStyle/>
          <a:p>
            <a:r>
              <a:rPr lang="en-US" dirty="0"/>
              <a:t>Word Sense Disambiguation</a:t>
            </a:r>
          </a:p>
          <a:p>
            <a:endParaRPr lang="en-US" dirty="0"/>
          </a:p>
          <a:p>
            <a:pPr lvl="1"/>
            <a:r>
              <a:rPr lang="en-US" dirty="0"/>
              <a:t>Gain better understanding of word embeddings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Compare global and contextual word embeddings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Apply embeddings to word sense disambiguation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Compare different WSD strategies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5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#7 Data: </a:t>
            </a:r>
            <a:r>
              <a:rPr lang="en-US" dirty="0" err="1"/>
              <a:t>SemCor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367" y="1444532"/>
            <a:ext cx="10363096" cy="4343400"/>
          </a:xfrm>
        </p:spPr>
        <p:txBody>
          <a:bodyPr>
            <a:normAutofit/>
          </a:bodyPr>
          <a:lstStyle/>
          <a:p>
            <a:r>
              <a:rPr lang="en-US" dirty="0" err="1"/>
              <a:t>SemCor</a:t>
            </a:r>
            <a:endParaRPr lang="en-US" dirty="0"/>
          </a:p>
          <a:p>
            <a:pPr lvl="1"/>
            <a:r>
              <a:rPr lang="en-US" dirty="0"/>
              <a:t>Semantic Concordance: corpus in which each open class word (e.g. noun, </a:t>
            </a:r>
            <a:r>
              <a:rPr lang="en-US" dirty="0" err="1"/>
              <a:t>verb,adjective</a:t>
            </a:r>
            <a:r>
              <a:rPr lang="en-US" dirty="0"/>
              <a:t>, adverb) in each sentence is labeled with a word sense from a particular resource, such as WordNet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SemCor</a:t>
            </a:r>
            <a:r>
              <a:rPr lang="en-US" dirty="0"/>
              <a:t> is a subset of the Brown Corpus with 226,036 words that were </a:t>
            </a:r>
            <a:r>
              <a:rPr lang="en-US" dirty="0" err="1"/>
              <a:t>manuallytagged</a:t>
            </a:r>
            <a:r>
              <a:rPr lang="en-US" dirty="0"/>
              <a:t> with WordNet senses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dirty="0" err="1"/>
              <a:t>SemCor</a:t>
            </a:r>
            <a:r>
              <a:rPr lang="en-US" dirty="0"/>
              <a:t>-based WSD task is to choose the correct sense from the possible </a:t>
            </a:r>
            <a:r>
              <a:rPr lang="en-US" dirty="0" err="1"/>
              <a:t>sensesin</a:t>
            </a:r>
            <a:r>
              <a:rPr lang="en-US" dirty="0"/>
              <a:t> WordNet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47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26DE-023C-97BC-ED72-0A9246AD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FAC2-98D1-561B-76FE-5B2448FA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#7 Data: </a:t>
            </a:r>
            <a:r>
              <a:rPr lang="en-US" dirty="0" err="1"/>
              <a:t>SemCor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A9E6A-F7F5-C84C-6E2C-367A0323D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367" y="1444532"/>
            <a:ext cx="10363096" cy="4343400"/>
          </a:xfrm>
        </p:spPr>
        <p:txBody>
          <a:bodyPr>
            <a:normAutofit/>
          </a:bodyPr>
          <a:lstStyle/>
          <a:p>
            <a:r>
              <a:rPr lang="en-US" dirty="0" err="1"/>
              <a:t>SemCor</a:t>
            </a:r>
            <a:r>
              <a:rPr lang="en-US" dirty="0"/>
              <a:t> Example</a:t>
            </a:r>
          </a:p>
          <a:p>
            <a:pPr lvl="1"/>
            <a:r>
              <a:rPr lang="en-US" dirty="0"/>
              <a:t>“You will </a:t>
            </a:r>
            <a:r>
              <a:rPr lang="en-US" b="1" dirty="0"/>
              <a:t>find</a:t>
            </a:r>
            <a:r>
              <a:rPr lang="en-US" dirty="0"/>
              <a:t> that </a:t>
            </a:r>
            <a:r>
              <a:rPr lang="en-US" b="1" dirty="0"/>
              <a:t>avocado</a:t>
            </a:r>
            <a:r>
              <a:rPr lang="en-US" dirty="0"/>
              <a:t> is </a:t>
            </a:r>
            <a:r>
              <a:rPr lang="en-US" b="1" dirty="0"/>
              <a:t>unlike</a:t>
            </a:r>
            <a:r>
              <a:rPr lang="en-US" dirty="0"/>
              <a:t> </a:t>
            </a:r>
            <a:r>
              <a:rPr lang="en-US" b="1" dirty="0"/>
              <a:t>other</a:t>
            </a:r>
            <a:r>
              <a:rPr lang="en-US" dirty="0"/>
              <a:t> </a:t>
            </a:r>
            <a:r>
              <a:rPr lang="en-US" b="1" dirty="0"/>
              <a:t>fruit</a:t>
            </a:r>
            <a:r>
              <a:rPr lang="en-US" dirty="0"/>
              <a:t> you have </a:t>
            </a:r>
            <a:r>
              <a:rPr lang="en-US" b="1" dirty="0"/>
              <a:t>ever tasted</a:t>
            </a:r>
            <a:r>
              <a:rPr lang="en-US" dirty="0"/>
              <a:t>.”</a:t>
            </a:r>
          </a:p>
          <a:p>
            <a:r>
              <a:rPr lang="en-US" dirty="0"/>
              <a:t>Goal: for every open class word (words in </a:t>
            </a:r>
            <a:r>
              <a:rPr lang="en-US" b="1" dirty="0"/>
              <a:t>bold</a:t>
            </a:r>
            <a:r>
              <a:rPr lang="en-US" dirty="0"/>
              <a:t>), choose the most likely sense among WordNet senses</a:t>
            </a:r>
          </a:p>
          <a:p>
            <a:r>
              <a:rPr lang="en-US" dirty="0"/>
              <a:t>Let’s look in WordNet…</a:t>
            </a:r>
          </a:p>
          <a:p>
            <a:pPr lvl="1"/>
            <a:r>
              <a:rPr lang="en-US" dirty="0"/>
              <a:t>find = </a:t>
            </a:r>
            <a:r>
              <a:rPr lang="en-US" dirty="0" err="1"/>
              <a:t>wn.synsets</a:t>
            </a:r>
            <a:r>
              <a:rPr lang="en-US" dirty="0"/>
              <a:t>(‘find’)</a:t>
            </a:r>
          </a:p>
          <a:p>
            <a:pPr lvl="1"/>
            <a:r>
              <a:rPr lang="en-US" dirty="0"/>
              <a:t>avocado = </a:t>
            </a:r>
            <a:r>
              <a:rPr lang="en-US" dirty="0" err="1"/>
              <a:t>wn.synsets</a:t>
            </a:r>
            <a:r>
              <a:rPr lang="en-US" dirty="0"/>
              <a:t>(‘avocado’)</a:t>
            </a:r>
          </a:p>
          <a:p>
            <a:pPr lvl="1"/>
            <a:r>
              <a:rPr lang="en-US" dirty="0"/>
              <a:t>fruit = </a:t>
            </a:r>
            <a:r>
              <a:rPr lang="en-US" dirty="0" err="1"/>
              <a:t>wn.synsets</a:t>
            </a:r>
            <a:r>
              <a:rPr lang="en-US" dirty="0"/>
              <a:t>(‘fruit’)</a:t>
            </a:r>
          </a:p>
          <a:p>
            <a:r>
              <a:rPr lang="en-US" dirty="0"/>
              <a:t>Some words have many different senses.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7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28C5C-6155-7F1D-31F1-2657C214D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423C-79C3-F7C5-5597-C581473A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#7 Data: </a:t>
            </a:r>
            <a:r>
              <a:rPr lang="en-US" dirty="0" err="1"/>
              <a:t>SemCor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272FF-E8A8-B19A-D201-DA17FAEB1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367" y="1444532"/>
            <a:ext cx="10363096" cy="434340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SemCor</a:t>
            </a:r>
            <a:r>
              <a:rPr lang="en-US" dirty="0"/>
              <a:t> Example</a:t>
            </a:r>
          </a:p>
          <a:p>
            <a:pPr lvl="1"/>
            <a:r>
              <a:rPr lang="en-US" dirty="0"/>
              <a:t>“You will </a:t>
            </a:r>
            <a:r>
              <a:rPr lang="en-US" b="1" dirty="0"/>
              <a:t>find</a:t>
            </a:r>
            <a:r>
              <a:rPr lang="en-US" dirty="0"/>
              <a:t> that </a:t>
            </a:r>
            <a:r>
              <a:rPr lang="en-US" b="1" dirty="0"/>
              <a:t>avocado</a:t>
            </a:r>
            <a:r>
              <a:rPr lang="en-US" dirty="0"/>
              <a:t> is </a:t>
            </a:r>
            <a:r>
              <a:rPr lang="en-US" b="1" dirty="0"/>
              <a:t>unlike</a:t>
            </a:r>
            <a:r>
              <a:rPr lang="en-US" dirty="0"/>
              <a:t> </a:t>
            </a:r>
            <a:r>
              <a:rPr lang="en-US" b="1" dirty="0"/>
              <a:t>other</a:t>
            </a:r>
            <a:r>
              <a:rPr lang="en-US" dirty="0"/>
              <a:t> </a:t>
            </a:r>
            <a:r>
              <a:rPr lang="en-US" b="1" dirty="0"/>
              <a:t>fruit</a:t>
            </a:r>
            <a:r>
              <a:rPr lang="en-US" dirty="0"/>
              <a:t> you have </a:t>
            </a:r>
            <a:r>
              <a:rPr lang="en-US" b="1" dirty="0"/>
              <a:t>ever tasted</a:t>
            </a:r>
            <a:r>
              <a:rPr lang="en-US" dirty="0"/>
              <a:t>.”</a:t>
            </a:r>
          </a:p>
          <a:p>
            <a:r>
              <a:rPr lang="en-US" dirty="0"/>
              <a:t>Goal: for every open class word (words in </a:t>
            </a:r>
            <a:r>
              <a:rPr lang="en-US" b="1" dirty="0"/>
              <a:t>bold</a:t>
            </a:r>
            <a:r>
              <a:rPr lang="en-US" dirty="0"/>
              <a:t>), choose the most likely sense among WordNet senses</a:t>
            </a:r>
          </a:p>
          <a:p>
            <a:r>
              <a:rPr lang="en-US" dirty="0"/>
              <a:t>Tagged sentence example:</a:t>
            </a:r>
          </a:p>
          <a:p>
            <a:pPr lvl="1"/>
            <a:r>
              <a:rPr lang="en-US" dirty="0"/>
              <a:t>You will </a:t>
            </a:r>
            <a:r>
              <a:rPr lang="en-US" b="1" dirty="0"/>
              <a:t>find</a:t>
            </a:r>
            <a:r>
              <a:rPr lang="en-US" baseline="30000" dirty="0"/>
              <a:t>9</a:t>
            </a:r>
            <a:r>
              <a:rPr lang="en-US" baseline="-25000" dirty="0"/>
              <a:t>v</a:t>
            </a:r>
            <a:r>
              <a:rPr lang="en-US" dirty="0"/>
              <a:t> that </a:t>
            </a:r>
            <a:r>
              <a:rPr lang="en-US" b="1" dirty="0"/>
              <a:t>avocado</a:t>
            </a:r>
            <a:r>
              <a:rPr lang="en-US" b="1" baseline="30000" dirty="0"/>
              <a:t>1</a:t>
            </a:r>
            <a:r>
              <a:rPr lang="en-US" b="1" baseline="-25000" dirty="0"/>
              <a:t>n</a:t>
            </a:r>
            <a:r>
              <a:rPr lang="en-US" dirty="0"/>
              <a:t> is </a:t>
            </a:r>
            <a:r>
              <a:rPr lang="en-US" b="1" dirty="0"/>
              <a:t>unlike</a:t>
            </a:r>
            <a:r>
              <a:rPr lang="en-US" b="1" baseline="30000" dirty="0"/>
              <a:t>1</a:t>
            </a:r>
            <a:r>
              <a:rPr lang="en-US" b="1" baseline="-25000" dirty="0"/>
              <a:t>j</a:t>
            </a:r>
            <a:r>
              <a:rPr lang="en-US" dirty="0"/>
              <a:t> </a:t>
            </a:r>
            <a:r>
              <a:rPr lang="en-US" b="1" dirty="0"/>
              <a:t>other</a:t>
            </a:r>
            <a:r>
              <a:rPr lang="en-US" b="1" baseline="30000" dirty="0"/>
              <a:t>1</a:t>
            </a:r>
            <a:r>
              <a:rPr lang="en-US" b="1" baseline="-25000" dirty="0"/>
              <a:t>j</a:t>
            </a:r>
            <a:r>
              <a:rPr lang="en-US" dirty="0"/>
              <a:t> </a:t>
            </a:r>
            <a:r>
              <a:rPr lang="en-US" b="1" dirty="0"/>
              <a:t>fruit</a:t>
            </a:r>
            <a:r>
              <a:rPr lang="en-US" b="1" baseline="30000" dirty="0"/>
              <a:t>1</a:t>
            </a:r>
            <a:r>
              <a:rPr lang="en-US" b="1" baseline="-25000" dirty="0"/>
              <a:t>n</a:t>
            </a:r>
            <a:r>
              <a:rPr lang="en-US" dirty="0"/>
              <a:t> you have </a:t>
            </a:r>
            <a:r>
              <a:rPr lang="en-US" b="1" dirty="0"/>
              <a:t>ever</a:t>
            </a:r>
            <a:r>
              <a:rPr lang="en-US" b="1" baseline="30000" dirty="0"/>
              <a:t>1</a:t>
            </a:r>
            <a:r>
              <a:rPr lang="en-US" b="1" baseline="-25000" dirty="0"/>
              <a:t>r</a:t>
            </a:r>
            <a:r>
              <a:rPr lang="en-US" b="1" dirty="0"/>
              <a:t> tasted</a:t>
            </a:r>
            <a:r>
              <a:rPr lang="en-US" b="1" baseline="30000" dirty="0"/>
              <a:t>2</a:t>
            </a:r>
            <a:r>
              <a:rPr lang="en-US" b="1" baseline="-25000" dirty="0"/>
              <a:t>v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integers correspond to the index within the </a:t>
            </a:r>
            <a:r>
              <a:rPr lang="en-US" dirty="0" err="1"/>
              <a:t>synset</a:t>
            </a:r>
            <a:r>
              <a:rPr lang="en-US" dirty="0"/>
              <a:t> list</a:t>
            </a:r>
          </a:p>
          <a:p>
            <a:pPr lvl="1"/>
            <a:r>
              <a:rPr lang="en-US" dirty="0"/>
              <a:t>Recall that WordNet </a:t>
            </a:r>
            <a:r>
              <a:rPr lang="en-US" dirty="0" err="1"/>
              <a:t>synsets</a:t>
            </a:r>
            <a:r>
              <a:rPr lang="en-US" dirty="0"/>
              <a:t> are organized by frequency. Index 1 corresponds to the “most frequent sense”  (</a:t>
            </a:r>
            <a:r>
              <a:rPr lang="en-US" b="1" dirty="0" err="1"/>
              <a:t>mfs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5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D2BB-1322-7453-63D6-14522E41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#7: Global Embeddings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57475-3680-270A-8195-7968E38ED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GloVe</a:t>
            </a:r>
            <a:r>
              <a:rPr lang="en-US" dirty="0"/>
              <a:t> (Pennington et al, 2014)</a:t>
            </a:r>
          </a:p>
          <a:p>
            <a:pPr lvl="1"/>
            <a:r>
              <a:rPr lang="en-US" dirty="0" err="1"/>
              <a:t>GloVe</a:t>
            </a:r>
            <a:r>
              <a:rPr lang="en-US" dirty="0"/>
              <a:t>: Global Vectors</a:t>
            </a:r>
          </a:p>
          <a:p>
            <a:pPr lvl="2"/>
            <a:r>
              <a:rPr lang="en-US" dirty="0"/>
              <a:t>Static embedding model based on global corpus statistics</a:t>
            </a:r>
          </a:p>
          <a:p>
            <a:pPr lvl="2"/>
            <a:r>
              <a:rPr lang="en-US" dirty="0"/>
              <a:t>Uses ratios of probabilities from word-word co-occurrence matrix</a:t>
            </a:r>
          </a:p>
          <a:p>
            <a:pPr lvl="2"/>
            <a:r>
              <a:rPr lang="en-US" dirty="0"/>
              <a:t> Similar properties to word2vec</a:t>
            </a:r>
          </a:p>
          <a:p>
            <a:pPr lvl="1"/>
            <a:r>
              <a:rPr lang="en-US" dirty="0"/>
              <a:t>Relative distances between words in vector space correspond to meaningful traits of words</a:t>
            </a:r>
          </a:p>
          <a:p>
            <a:pPr lvl="1"/>
            <a:r>
              <a:rPr lang="en-US" dirty="0"/>
              <a:t>Can apply analogical reasoning using vector arithmetic</a:t>
            </a:r>
          </a:p>
          <a:p>
            <a:pPr lvl="1"/>
            <a:r>
              <a:rPr lang="en-US" dirty="0"/>
              <a:t>Can use cosine similarity as similarity metric between word vectors</a:t>
            </a:r>
          </a:p>
          <a:p>
            <a:pPr lvl="1"/>
            <a:r>
              <a:rPr lang="en-US" dirty="0"/>
              <a:t>More info here: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nlp.stanford.edu</a:t>
            </a:r>
            <a:r>
              <a:rPr lang="en-US" dirty="0">
                <a:hlinkClick r:id="rId2"/>
              </a:rPr>
              <a:t>/projects/glove/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240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4CE12-5D18-E72B-6357-2613D93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 new pair of </a:t>
            </a:r>
            <a:r>
              <a:rPr lang="en-US" dirty="0" err="1"/>
              <a:t>GloVes</a:t>
            </a:r>
            <a:r>
              <a:rPr lang="en-US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4C124-E091-2498-B074-AA83B87C9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(Carlson et al 2025)</a:t>
            </a:r>
          </a:p>
          <a:p>
            <a:r>
              <a:rPr lang="en-US" dirty="0"/>
              <a:t>Applies </a:t>
            </a:r>
            <a:r>
              <a:rPr lang="en-US" dirty="0" err="1"/>
              <a:t>GloVe</a:t>
            </a:r>
            <a:r>
              <a:rPr lang="en-US" dirty="0"/>
              <a:t> architecture to newer data &amp; with better documentation</a:t>
            </a:r>
          </a:p>
          <a:p>
            <a:r>
              <a:rPr lang="en-US" dirty="0"/>
              <a:t>From the paper: “For example, ‘covid’ does not have a representation in the 2014 embeddings.” 🙃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arxiv.org</a:t>
            </a:r>
            <a:r>
              <a:rPr lang="en-US" dirty="0">
                <a:hlinkClick r:id="rId2"/>
              </a:rPr>
              <a:t>/abs/2507.18103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41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88D7-7D81-409E-B8A2-9003A480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#7: Contextual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B0668-CB27-DED7-8670-F733EE4B3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DistilRoBERTa</a:t>
            </a:r>
            <a:endParaRPr lang="en-US" dirty="0"/>
          </a:p>
          <a:p>
            <a:pPr lvl="1"/>
            <a:r>
              <a:rPr lang="en-US" dirty="0"/>
              <a:t>Distilled version of </a:t>
            </a:r>
            <a:r>
              <a:rPr lang="en-US" dirty="0" err="1"/>
              <a:t>RoBERTa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“Robustly optimized BERT pretraining Approach” (Liu et al 2019)</a:t>
            </a:r>
          </a:p>
          <a:p>
            <a:pPr lvl="1"/>
            <a:r>
              <a:rPr lang="en-US" dirty="0"/>
              <a:t>Improves upon BERT training procedure, while retaining masked-language model objective</a:t>
            </a:r>
          </a:p>
          <a:p>
            <a:pPr lvl="1"/>
            <a:r>
              <a:rPr lang="en-US" dirty="0"/>
              <a:t>“Distilled”: A procedure for shrinking model size while retaining performance and improving speed (Sanh et al 2019)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Model card here: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huggingface.co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distilbert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distilroberta</a:t>
            </a:r>
            <a:r>
              <a:rPr lang="en-US" dirty="0">
                <a:hlinkClick r:id="rId2"/>
              </a:rPr>
              <a:t>-base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30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E97B-1FEB-7E66-8299-4F4C16B34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DF9A60-AD24-43A3-704E-C5AC43B9BF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High-level wrapper functions:</a:t>
                </a:r>
              </a:p>
              <a:p>
                <a:pPr lvl="1"/>
                <a:r>
                  <a:rPr lang="en-US" b="1" dirty="0" err="1"/>
                  <a:t>generate_sense_representations.py</a:t>
                </a:r>
                <a:r>
                  <a:rPr lang="en-US" dirty="0"/>
                  <a:t>: reads </a:t>
                </a:r>
                <a:r>
                  <a:rPr lang="en-US" dirty="0" err="1"/>
                  <a:t>SemCor</a:t>
                </a:r>
                <a:r>
                  <a:rPr lang="en-US" dirty="0"/>
                  <a:t> training data, generates vectors for word senses</a:t>
                </a:r>
              </a:p>
              <a:p>
                <a:pPr lvl="1"/>
                <a:r>
                  <a:rPr lang="en-US" b="1" dirty="0" err="1"/>
                  <a:t>wsd_inference.py</a:t>
                </a:r>
                <a:r>
                  <a:rPr lang="en-US" b="1" dirty="0"/>
                  <a:t>: </a:t>
                </a:r>
                <a:r>
                  <a:rPr lang="en-US" dirty="0"/>
                  <a:t>reads </a:t>
                </a:r>
                <a:r>
                  <a:rPr lang="en-US" dirty="0" err="1"/>
                  <a:t>SemCor</a:t>
                </a:r>
                <a:r>
                  <a:rPr lang="en-US" dirty="0"/>
                  <a:t> test data, computes vector representations and uses these to predict senses, does evaluation</a:t>
                </a:r>
              </a:p>
              <a:p>
                <a:r>
                  <a:rPr lang="en-US" dirty="0"/>
                  <a:t>Use 'grep -r "TODO" .’  to find parts of helper functions to implement</a:t>
                </a:r>
              </a:p>
              <a:p>
                <a:pPr lvl="1"/>
                <a:r>
                  <a:rPr lang="en-US" dirty="0"/>
                  <a:t>create static word vectors</a:t>
                </a:r>
              </a:p>
              <a:p>
                <a:pPr lvl="1"/>
                <a:r>
                  <a:rPr lang="en-US" dirty="0"/>
                  <a:t>create contextual vectors</a:t>
                </a:r>
              </a:p>
              <a:p>
                <a:pPr lvl="1"/>
                <a:r>
                  <a:rPr lang="en-US" dirty="0"/>
                  <a:t>find most similar sense as: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𝑠𝑒𝑛𝑠𝑒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𝑎𝑟𝑔𝑚𝑎𝑥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𝑠𝑒𝑛𝑠𝑒𝑠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calculate accuracy measures, including for </a:t>
                </a:r>
                <a:r>
                  <a:rPr lang="en-US" dirty="0" err="1"/>
                  <a:t>mfs</a:t>
                </a:r>
                <a:endParaRPr lang="en-US" dirty="0"/>
              </a:p>
              <a:p>
                <a:pPr lvl="1"/>
                <a:r>
                  <a:rPr lang="en-US" dirty="0"/>
                  <a:t>Pay careful attention to docstrings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DF9A60-AD24-43A3-704E-C5AC43B9BF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8" t="-1749" b="-1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87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2B65-A6CC-B817-3417-004CEEAC8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ACAA-687C-3A42-6C50-71BC57514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'</a:t>
            </a:r>
            <a:r>
              <a:rPr lang="en-US" dirty="0" err="1"/>
              <a:t>contextual_vectors.py</a:t>
            </a:r>
            <a:r>
              <a:rPr lang="en-US" dirty="0"/>
              <a:t>', </a:t>
            </a:r>
            <a:r>
              <a:rPr lang="en-US" dirty="0" err="1"/>
              <a:t>last_layer</a:t>
            </a:r>
            <a:r>
              <a:rPr lang="en-US" dirty="0"/>
              <a:t> has dimensions (</a:t>
            </a:r>
            <a:r>
              <a:rPr lang="en-US" dirty="0" err="1"/>
              <a:t>batch_size</a:t>
            </a:r>
            <a:r>
              <a:rPr lang="en-US" dirty="0"/>
              <a:t>, </a:t>
            </a:r>
            <a:r>
              <a:rPr lang="en-US" dirty="0" err="1"/>
              <a:t>sequence_length</a:t>
            </a:r>
            <a:r>
              <a:rPr lang="en-US" dirty="0"/>
              <a:t>, </a:t>
            </a:r>
            <a:r>
              <a:rPr lang="en-US" dirty="0" err="1"/>
              <a:t>hidden_size</a:t>
            </a:r>
            <a:r>
              <a:rPr lang="en-US" dirty="0"/>
              <a:t>)</a:t>
            </a:r>
          </a:p>
          <a:p>
            <a:r>
              <a:rPr lang="en-US" dirty="0"/>
              <a:t>Since </a:t>
            </a:r>
            <a:r>
              <a:rPr lang="en-US" dirty="0" err="1"/>
              <a:t>batch_size</a:t>
            </a:r>
            <a:r>
              <a:rPr lang="en-US" dirty="0"/>
              <a:t> is just 1, we want to index into </a:t>
            </a:r>
            <a:r>
              <a:rPr lang="en-US" dirty="0" err="1"/>
              <a:t>last_layer</a:t>
            </a:r>
            <a:r>
              <a:rPr lang="en-US" dirty="0"/>
              <a:t> to grab the representation of the first (and only) sentence in the batch, i.e. </a:t>
            </a:r>
            <a:r>
              <a:rPr lang="en-US" dirty="0" err="1"/>
              <a:t>last_layer</a:t>
            </a:r>
            <a:r>
              <a:rPr lang="en-US" dirty="0"/>
              <a:t>[0]</a:t>
            </a:r>
          </a:p>
          <a:p>
            <a:r>
              <a:rPr lang="en-US" dirty="0" err="1"/>
              <a:t>last_layer</a:t>
            </a:r>
            <a:r>
              <a:rPr lang="en-US" dirty="0"/>
              <a:t>[0] has dimensions (</a:t>
            </a:r>
            <a:r>
              <a:rPr lang="en-US" dirty="0" err="1"/>
              <a:t>sequence_length</a:t>
            </a:r>
            <a:r>
              <a:rPr lang="en-US" dirty="0"/>
              <a:t>, </a:t>
            </a:r>
            <a:r>
              <a:rPr lang="en-US" dirty="0" err="1"/>
              <a:t>hidden_size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4310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2798</TotalTime>
  <Words>672</Words>
  <Application>Microsoft Macintosh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 Math</vt:lpstr>
      <vt:lpstr>News Gothic MT</vt:lpstr>
      <vt:lpstr>Wingdings 2</vt:lpstr>
      <vt:lpstr>Breeze</vt:lpstr>
      <vt:lpstr>Homework #7</vt:lpstr>
      <vt:lpstr>Goals</vt:lpstr>
      <vt:lpstr>HW #7 Data: SemCor</vt:lpstr>
      <vt:lpstr>HW #7 Data: SemCor Example</vt:lpstr>
      <vt:lpstr>HW #7 Data: SemCor Example</vt:lpstr>
      <vt:lpstr>HW #7: Global Embeddings </vt:lpstr>
      <vt:lpstr>“A new pair of GloVes”</vt:lpstr>
      <vt:lpstr>HW #7: Contextual Embeddings</vt:lpstr>
      <vt:lpstr>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#6</dc:title>
  <dc:creator>Gina-Anne Levow</dc:creator>
  <cp:lastModifiedBy>Gina-Anne Levow</cp:lastModifiedBy>
  <cp:revision>13</cp:revision>
  <dcterms:created xsi:type="dcterms:W3CDTF">2015-02-11T22:37:44Z</dcterms:created>
  <dcterms:modified xsi:type="dcterms:W3CDTF">2026-02-16T05:20:16Z</dcterms:modified>
</cp:coreProperties>
</file>